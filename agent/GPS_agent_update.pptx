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1078992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A GPS-only diagnostic agent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for open-pit haulage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306324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BN pilot — building it, stress-testing it, and correcting the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1188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E6EDF5"/>
                </a:solidFill>
                <a:latin typeface="Calibri"/>
              </a:rPr>
              <a:t>From truck GPS alone: find the bottleneck for a load zone and say which lever helps — honestly.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800600"/>
            <a:ext cx="3447288" cy="1234440"/>
          </a:xfrm>
          <a:prstGeom prst="roundRect">
            <a:avLst>
              <a:gd name="adj" fmla="val 8000"/>
            </a:avLst>
          </a:prstGeom>
          <a:solidFill>
            <a:srgbClr val="2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956048"/>
            <a:ext cx="31089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GPS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04688"/>
            <a:ext cx="3154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no payload, fuel, dispatch or shovel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4800600"/>
            <a:ext cx="3447288" cy="1234440"/>
          </a:xfrm>
          <a:prstGeom prst="roundRect">
            <a:avLst>
              <a:gd name="adj" fmla="val 8000"/>
            </a:avLst>
          </a:prstGeom>
          <a:solidFill>
            <a:srgbClr val="2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4956048"/>
            <a:ext cx="31089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4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5504688"/>
            <a:ext cx="3154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perception  →  attribution  →  decision  →  LLM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4800600"/>
            <a:ext cx="3447288" cy="1234440"/>
          </a:xfrm>
          <a:prstGeom prst="roundRect">
            <a:avLst>
              <a:gd name="adj" fmla="val 8000"/>
            </a:avLst>
          </a:prstGeom>
          <a:solidFill>
            <a:srgbClr val="2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4956048"/>
            <a:ext cx="31089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D68A1E"/>
                </a:solidFill>
                <a:latin typeface="Cambria"/>
              </a:rPr>
              <a:t>+62% → +54%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5504688"/>
            <a:ext cx="3154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headline corrected this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FB2CA"/>
                </a:solidFill>
                <a:latin typeface="Calibri"/>
              </a:rPr>
              <a:t>Baruun Naran circuit, South Gobi  ·  November 2025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080820" cy="329184"/>
          </a:xfrm>
          <a:prstGeom prst="roundRect">
            <a:avLst>
              <a:gd name="adj" fmla="val 50000"/>
            </a:avLst>
          </a:prstGeom>
          <a:solidFill>
            <a:srgbClr val="8A9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22E3C"/>
                </a:solidFill>
                <a:latin typeface="Cambria"/>
              </a:rPr>
              <a:t>What we built: a 4-layer diagnostic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783080"/>
            <a:ext cx="5806440" cy="4754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222E3C"/>
                </a:solidFill>
                <a:latin typeface="Calibri"/>
              </a:rPr>
              <a:t>Input: </a:t>
            </a:r>
            <a:r>
              <a:rPr sz="1400" b="0" i="0">
                <a:solidFill>
                  <a:srgbClr val="222E3C"/>
                </a:solidFill>
                <a:latin typeface="Calibri"/>
              </a:rPr>
              <a:t>GPS-derived truck cycles (load → haul → dump → return). No payload / fuel / dispatch / shovel data — by design.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C7A7B"/>
                </a:solidFill>
                <a:latin typeface="Calibri"/>
              </a:rPr>
              <a:t>1 · Perception — </a:t>
            </a:r>
            <a:r>
              <a:rPr sz="1400" b="0" i="0">
                <a:solidFill>
                  <a:srgbClr val="222E3C"/>
                </a:solidFill>
                <a:latin typeface="Calibri"/>
              </a:rPr>
              <a:t>point-in-polygon + timing  →  cycles &amp; loading dwell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C7A7B"/>
                </a:solidFill>
                <a:latin typeface="Calibri"/>
              </a:rPr>
              <a:t>2 · Attribution — </a:t>
            </a:r>
            <a:r>
              <a:rPr sz="1400" b="0" i="0">
                <a:solidFill>
                  <a:srgbClr val="222E3C"/>
                </a:solidFill>
                <a:latin typeface="Calibri"/>
              </a:rPr>
              <a:t>percentile-baseline excess (no ML)  →  recoverable hours per cause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C7A7B"/>
                </a:solidFill>
                <a:latin typeface="Calibri"/>
              </a:rPr>
              <a:t>3 · Decision — </a:t>
            </a:r>
            <a:r>
              <a:rPr sz="1400" b="0" i="0">
                <a:solidFill>
                  <a:srgbClr val="222E3C"/>
                </a:solidFill>
                <a:latin typeface="Calibri"/>
              </a:rPr>
              <a:t>Theory of Constraints, min(supply, shovel)  →  binding constraint + levers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C7A7B"/>
                </a:solidFill>
                <a:latin typeface="Calibri"/>
              </a:rPr>
              <a:t>4 · Explanation — </a:t>
            </a:r>
            <a:r>
              <a:rPr sz="1400" b="0" i="0">
                <a:solidFill>
                  <a:srgbClr val="222E3C"/>
                </a:solidFill>
                <a:latin typeface="Calibri"/>
              </a:rPr>
              <a:t>LLM (Claude)  →  plain-language manager brief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0" i="1">
                <a:solidFill>
                  <a:srgbClr val="5B6B7B"/>
                </a:solidFill>
                <a:latin typeface="Calibri"/>
              </a:rPr>
              <a:t>Layers 1–3 need no training — interpretable and reproducible.</a:t>
            </a:r>
          </a:p>
        </p:txBody>
      </p:sp>
      <p:pic>
        <p:nvPicPr>
          <p:cNvPr id="5" name="Picture 4" descr="agen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603" y="1600200"/>
            <a:ext cx="415823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080820" cy="329184"/>
          </a:xfrm>
          <a:prstGeom prst="roundRect">
            <a:avLst>
              <a:gd name="adj" fmla="val 50000"/>
            </a:avLst>
          </a:prstGeom>
          <a:solidFill>
            <a:srgbClr val="8A9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11556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22E3C"/>
                </a:solidFill>
                <a:latin typeface="Cambria"/>
              </a:rPr>
              <a:t>How the key numbers are computed — and the v1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691640"/>
            <a:ext cx="2624328" cy="10515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819656"/>
            <a:ext cx="2295144" cy="79552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C7A7B"/>
                </a:solidFill>
                <a:latin typeface="Cambria"/>
              </a:rPr>
              <a:t>Free-flow baseline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2E3C"/>
                </a:solidFill>
                <a:latin typeface="Calibri"/>
              </a:rPr>
              <a:t>p15 of haul / return time — a fast, clean trip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00984" y="1691640"/>
            <a:ext cx="2624328" cy="10515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65576" y="1819656"/>
            <a:ext cx="2295144" cy="79552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C7A7B"/>
                </a:solidFill>
                <a:latin typeface="Cambria"/>
              </a:rPr>
              <a:t>Loading service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2E3C"/>
                </a:solidFill>
                <a:latin typeface="Calibri"/>
              </a:rPr>
              <a:t>p20 of dwell; queue vs idle cut at 120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71616" y="1691640"/>
            <a:ext cx="2624328" cy="10515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7" y="1819656"/>
            <a:ext cx="2295144" cy="79552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C7A7B"/>
                </a:solidFill>
                <a:latin typeface="Cambria"/>
              </a:rPr>
              <a:t>Shovel rate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2E3C"/>
                </a:solidFill>
                <a:latin typeface="Calibri"/>
              </a:rPr>
              <a:t>busy inter-departure → 7.3/h; ceiling 160/day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42248" y="1691640"/>
            <a:ext cx="2624328" cy="10515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819656"/>
            <a:ext cx="2295144" cy="79552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C7A7B"/>
                </a:solidFill>
                <a:latin typeface="Cambria"/>
              </a:rPr>
              <a:t>Decision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2E3C"/>
                </a:solidFill>
                <a:latin typeface="Calibri"/>
              </a:rPr>
              <a:t>Theory of Constraints: min(supply, shovel)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98064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1">
                <a:solidFill>
                  <a:srgbClr val="C0392B"/>
                </a:solidFill>
                <a:latin typeface="Calibri"/>
              </a:rPr>
              <a:t>v1 headline: idle = 60% of lost time  →  “cut idle, +62%”</a:t>
            </a:r>
          </a:p>
        </p:txBody>
      </p:sp>
      <p:pic>
        <p:nvPicPr>
          <p:cNvPr id="13" name="Picture 12" descr="A_v1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3063240"/>
            <a:ext cx="1001268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080820" cy="32918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22E3C"/>
                </a:solidFill>
                <a:latin typeface="Cambria"/>
              </a:rPr>
              <a:t>We stress-tested the headline — and it was 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783080"/>
            <a:ext cx="5120640" cy="2834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E3C"/>
                </a:solidFill>
                <a:latin typeface="Calibri"/>
              </a:rPr>
              <a:t>The +62% rests almost entirely on </a:t>
            </a:r>
            <a:r>
              <a:rPr sz="1400" b="1" i="0">
                <a:solidFill>
                  <a:srgbClr val="222E3C"/>
                </a:solidFill>
                <a:latin typeface="Calibri"/>
              </a:rPr>
              <a:t>idle_stand (5,580 h = 60% of lost time).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222E3C"/>
                </a:solidFill>
                <a:latin typeface="Calibri"/>
              </a:rPr>
              <a:t>We decomposed the 316 long stops: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E3C"/>
                </a:solidFill>
                <a:latin typeface="Calibri"/>
              </a:rPr>
              <a:t>•  87% of the hours are stops longer than 12 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E3C"/>
                </a:solidFill>
                <a:latin typeface="Calibri"/>
              </a:rPr>
              <a:t>•  82% span overnight (median 18.7 h)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E3C"/>
                </a:solidFill>
                <a:latin typeface="Calibri"/>
              </a:rPr>
              <a:t>•  spread across all 22 trucks — shift-end parking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470916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EF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4837176"/>
            <a:ext cx="4791455" cy="11155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F7D4F"/>
                </a:solidFill>
                <a:latin typeface="Cambria"/>
              </a:rPr>
              <a:t>→ So most “idle” is not recoverable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2E3C"/>
                </a:solidFill>
                <a:latin typeface="Calibri"/>
              </a:rPr>
              <a:t>The fleet simply is not running 24/7. That is a staffing / scheduling question, not a dispatch waste.</a:t>
            </a:r>
          </a:p>
        </p:txBody>
      </p:sp>
      <p:pic>
        <p:nvPicPr>
          <p:cNvPr id="7" name="Picture 6" descr="B_idle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506451"/>
            <a:ext cx="5943600" cy="2942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080820" cy="32918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22E3C"/>
                </a:solidFill>
                <a:latin typeface="Cambria"/>
              </a:rPr>
              <a:t>The fix: two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783080"/>
            <a:ext cx="5394960" cy="27889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911095"/>
            <a:ext cx="5065776" cy="253288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C7A7B"/>
                </a:solidFill>
                <a:latin typeface="Cambria"/>
              </a:rPr>
              <a:t>1 · Split the idle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E3C"/>
                </a:solidFill>
                <a:latin typeface="Calibri"/>
              </a:rPr>
              <a:t>Add a second cut line at 6 h: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222E3C"/>
                </a:solidFill>
                <a:latin typeface="Calibri"/>
              </a:rPr>
              <a:t>•  2 h – 6 h  →  on-shift idle (recoverable-ish)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22E3C"/>
                </a:solidFill>
                <a:latin typeface="Calibri"/>
              </a:rPr>
              <a:t>•  &gt; 6 h / overnight  →  downtime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     (off-shift; a staffing lever, not dispatch)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783080"/>
            <a:ext cx="5394960" cy="27889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9944" y="1911095"/>
            <a:ext cx="5065776" cy="253288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C7A7B"/>
                </a:solidFill>
                <a:latin typeface="Cambria"/>
              </a:rPr>
              <a:t>2 · Realistic ceiling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2E3C"/>
                </a:solidFill>
                <a:latin typeface="Calibri"/>
              </a:rPr>
              <a:t>Keep the actual fleet availability; credit only faster active cycling (remove queue + road):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2C7A7B"/>
                </a:solidFill>
                <a:latin typeface="Consolas"/>
              </a:rPr>
              <a:t>loads_new = loads × (old cycle ÷ new cycle)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222E3C"/>
                </a:solidFill>
                <a:latin typeface="Calibri"/>
              </a:rPr>
              <a:t>Not “22 trucks running 24/7”.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8006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2E3C"/>
                </a:solidFill>
                <a:latin typeface="Calibri"/>
              </a:rPr>
              <a:t>The loading dwell, split at two lines: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5532120"/>
            <a:ext cx="1051560" cy="502920"/>
          </a:xfrm>
          <a:prstGeom prst="rect">
            <a:avLst/>
          </a:prstGeom>
          <a:solidFill>
            <a:srgbClr val="C7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22E3C"/>
                </a:solidFill>
                <a:latin typeface="Calibri"/>
              </a:rPr>
              <a:t>load</a:t>
            </a:r>
          </a:p>
          <a:p>
            <a:pPr algn="ctr"/>
            <a:r>
              <a:rPr sz="1100" b="1">
                <a:solidFill>
                  <a:srgbClr val="222E3C"/>
                </a:solidFill>
                <a:latin typeface="Calibri"/>
              </a:rPr>
              <a:t>(base)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5532120"/>
            <a:ext cx="2331720" cy="502920"/>
          </a:xfrm>
          <a:prstGeom prst="rect">
            <a:avLst/>
          </a:prstGeom>
          <a:solidFill>
            <a:srgbClr val="6B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load_queue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5532120"/>
            <a:ext cx="2331720" cy="5029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22E3C"/>
                </a:solidFill>
                <a:latin typeface="Calibri"/>
              </a:rPr>
              <a:t>idle_onshift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5532120"/>
            <a:ext cx="41605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downtime  (staffing)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79" y="5230368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B7B"/>
                </a:solidFill>
                <a:latin typeface="Calibri"/>
              </a:rPr>
              <a:t>16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5230368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B7B"/>
                </a:solidFill>
                <a:latin typeface="Calibri"/>
              </a:rPr>
              <a:t>120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230368"/>
            <a:ext cx="1097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B7B"/>
                </a:solidFill>
                <a:latin typeface="Calibri"/>
              </a:rPr>
              <a:t>6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5605272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B6B7B"/>
                </a:solidFill>
                <a:latin typeface="Calibri"/>
              </a:rPr>
              <a:t>dwell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355080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B7B"/>
                </a:solidFill>
                <a:latin typeface="Calibri"/>
              </a:rPr>
              <a:t>Both changes are general; the 6 h line is a provisional, BN-tuned threshold → make cycle-relative when generalising.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080820" cy="329184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22E3C"/>
                </a:solidFill>
                <a:latin typeface="Cambria"/>
              </a:rPr>
              <a:t>Before vs after — a more honest diagnosis</a:t>
            </a:r>
          </a:p>
        </p:txBody>
      </p:sp>
      <p:pic>
        <p:nvPicPr>
          <p:cNvPr id="4" name="Picture 3" descr="C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187" y="1600200"/>
            <a:ext cx="10077145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349240"/>
            <a:ext cx="1060704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2E3C"/>
                </a:solidFill>
                <a:latin typeface="Calibri"/>
              </a:rPr>
              <a:t>•  idle 5,580 h  →  1,213 recoverable  +  4,366 downtime (staffing)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2E3C"/>
                </a:solidFill>
                <a:latin typeface="Calibri"/>
              </a:rPr>
              <a:t>•  headline +62% (assumes 24/7)  →  </a:t>
            </a:r>
            <a:r>
              <a:rPr sz="1350" b="1" i="0">
                <a:solidFill>
                  <a:srgbClr val="2F7D4F"/>
                </a:solidFill>
                <a:latin typeface="Calibri"/>
              </a:rPr>
              <a:t>+54% to 124/day</a:t>
            </a:r>
            <a:r>
              <a:rPr sz="1350" b="0" i="0">
                <a:solidFill>
                  <a:srgbClr val="222E3C"/>
                </a:solidFill>
                <a:latin typeface="Calibri"/>
              </a:rPr>
              <a:t> — near the best observed day (109), so credible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22E3C"/>
                </a:solidFill>
                <a:latin typeface="Calibri"/>
              </a:rPr>
              <a:t>•  shovel ceiling 160/day unchanged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9728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Takeaways · limits ·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54480"/>
            <a:ext cx="3447288" cy="4754880"/>
          </a:xfrm>
          <a:prstGeom prst="roundRect">
            <a:avLst>
              <a:gd name="adj" fmla="val 5000"/>
            </a:avLst>
          </a:prstGeom>
          <a:solidFill>
            <a:srgbClr val="2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783080"/>
            <a:ext cx="306324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D68A1E"/>
                </a:solidFill>
                <a:latin typeface="Cambria"/>
              </a:rPr>
              <a:t>What holds up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ECF1F8"/>
                </a:solidFill>
                <a:latin typeface="Calibri"/>
              </a:rPr>
              <a:t>•  Same code, different diagnosis: BN is road-bound, Middling is queue-bound — a real diagnostic, not a hard-coded answer.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ECF1F8"/>
                </a:solidFill>
                <a:latin typeface="Calibri"/>
              </a:rPr>
              <a:t>•  We found and corrected our own inflated headline — intellectual honesty built 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1554480"/>
            <a:ext cx="3447288" cy="4754880"/>
          </a:xfrm>
          <a:prstGeom prst="roundRect">
            <a:avLst>
              <a:gd name="adj" fmla="val 5000"/>
            </a:avLst>
          </a:prstGeom>
          <a:solidFill>
            <a:srgbClr val="2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783080"/>
            <a:ext cx="306324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CADCFC"/>
                </a:solidFill>
                <a:latin typeface="Cambria"/>
              </a:rPr>
              <a:t>Honest limits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ECF1F8"/>
                </a:solidFill>
                <a:latin typeface="Calibri"/>
              </a:rPr>
              <a:t>•  Recoverable numbers = upper bounds; November data only.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ECF1F8"/>
                </a:solidFill>
                <a:latin typeface="Calibri"/>
              </a:rPr>
              <a:t>•  The 6 h idle threshold is provisional (BN-tuned).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ECF1F8"/>
                </a:solidFill>
                <a:latin typeface="Calibri"/>
              </a:rPr>
              <a:t>•  No payload → loads &amp; truck-hours, not tonnes.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ECF1F8"/>
                </a:solidFill>
                <a:latin typeface="Calibri"/>
              </a:rPr>
              <a:t>•  A diagnostic, not proof — a real gain needs a before/after pilot.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9016" y="1554480"/>
            <a:ext cx="3447288" cy="4754880"/>
          </a:xfrm>
          <a:prstGeom prst="roundRect">
            <a:avLst>
              <a:gd name="adj" fmla="val 5000"/>
            </a:avLst>
          </a:prstGeom>
          <a:solidFill>
            <a:srgbClr val="2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0184" y="1783080"/>
            <a:ext cx="306324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7FD1C4"/>
                </a:solidFill>
                <a:latin typeface="Cambria"/>
              </a:rPr>
              <a:t>Next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ECF1F8"/>
                </a:solidFill>
                <a:latin typeface="Calibri"/>
              </a:rPr>
              <a:t>•  Make the thresholds cycle-relative.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ECF1F8"/>
                </a:solidFill>
                <a:latin typeface="Calibri"/>
              </a:rPr>
              <a:t>•  Handle multi-destination flows.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ECF1F8"/>
                </a:solidFill>
                <a:latin typeface="Calibri"/>
              </a:rPr>
              <a:t>•  Generalise to the other region (Reject, Middling).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ECF1F8"/>
                </a:solidFill>
                <a:latin typeface="Calibri"/>
              </a:rPr>
              <a:t>•  Run a small before/after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